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6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1AB-49A4-BF5F-E7D2FCA76C1A}"/>
              </c:ext>
            </c:extLst>
          </c:dPt>
          <c:dPt>
            <c:idx val="1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AB-49A4-BF5F-E7D2FCA76C1A}"/>
              </c:ext>
            </c:extLst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AB-49A4-BF5F-E7D2FCA76C1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AB-49A4-BF5F-E7D2FCA76C1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AB-49A4-BF5F-E7D2FCA76C1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AB-49A4-BF5F-E7D2FCA76C1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Attended</c:v>
                </c:pt>
                <c:pt idx="1">
                  <c:v>DNA (Missed)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677755876</c:v>
                </c:pt>
                <c:pt idx="1">
                  <c:v>30911233</c:v>
                </c:pt>
                <c:pt idx="2">
                  <c:v>34137416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AB-49A4-BF5F-E7D2FCA76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Appointments (M)</c:v>
                </c:pt>
              </c:strCache>
            </c:strRef>
          </c:tx>
          <c:spPr>
            <a:ln w="31750" cap="flat">
              <a:solidFill>
                <a:srgbClr val="005E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5EB8"/>
              </a:solidFill>
              <a:ln w="9525" cap="flat">
                <a:solidFill>
                  <a:srgbClr val="005EB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Jan-20</c:v>
                </c:pt>
                <c:pt idx="1">
                  <c:v>Mar-20</c:v>
                </c:pt>
                <c:pt idx="2">
                  <c:v>May-20</c:v>
                </c:pt>
                <c:pt idx="3">
                  <c:v>Jul-20</c:v>
                </c:pt>
                <c:pt idx="4">
                  <c:v>Sep-20</c:v>
                </c:pt>
                <c:pt idx="5">
                  <c:v>Nov-20</c:v>
                </c:pt>
                <c:pt idx="6">
                  <c:v>Jan-21</c:v>
                </c:pt>
                <c:pt idx="7">
                  <c:v>Mar-21</c:v>
                </c:pt>
                <c:pt idx="8">
                  <c:v>May-21</c:v>
                </c:pt>
                <c:pt idx="9">
                  <c:v>Jul-21</c:v>
                </c:pt>
                <c:pt idx="10">
                  <c:v>Sep-21</c:v>
                </c:pt>
                <c:pt idx="11">
                  <c:v>Nov-21</c:v>
                </c:pt>
                <c:pt idx="12">
                  <c:v>Jan-22</c:v>
                </c:pt>
                <c:pt idx="13">
                  <c:v>Mar-22</c:v>
                </c:pt>
                <c:pt idx="14">
                  <c:v>May-22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26.5</c:v>
                </c:pt>
                <c:pt idx="1">
                  <c:v>23.1</c:v>
                </c:pt>
                <c:pt idx="2">
                  <c:v>15.8</c:v>
                </c:pt>
                <c:pt idx="3">
                  <c:v>24.8</c:v>
                </c:pt>
                <c:pt idx="4">
                  <c:v>26.9</c:v>
                </c:pt>
                <c:pt idx="5">
                  <c:v>27.6</c:v>
                </c:pt>
                <c:pt idx="6">
                  <c:v>23.4</c:v>
                </c:pt>
                <c:pt idx="7">
                  <c:v>27.6</c:v>
                </c:pt>
                <c:pt idx="8">
                  <c:v>27.5</c:v>
                </c:pt>
                <c:pt idx="9">
                  <c:v>28.9</c:v>
                </c:pt>
                <c:pt idx="10">
                  <c:v>29.4</c:v>
                </c:pt>
                <c:pt idx="11">
                  <c:v>29.8</c:v>
                </c:pt>
                <c:pt idx="12">
                  <c:v>27.3</c:v>
                </c:pt>
                <c:pt idx="13">
                  <c:v>30.6</c:v>
                </c:pt>
                <c:pt idx="14">
                  <c:v>28.8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138-4515-A15C-6E3AA5663F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10"/>
        </c:scaling>
        <c:delete val="0"/>
        <c:axPos val="l"/>
        <c:majorGridlines>
          <c:spPr>
            <a:ln w="6350" cap="flat">
              <a:solidFill>
                <a:srgbClr val="DD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Face-to-Face</c:v>
                </c:pt>
              </c:strCache>
            </c:strRef>
          </c:tx>
          <c:spPr>
            <a:ln w="31750" cap="flat">
              <a:solidFill>
                <a:srgbClr val="005E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5EB8"/>
              </a:solidFill>
              <a:ln w="9525" cap="flat">
                <a:solidFill>
                  <a:srgbClr val="005EB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5.2</c:v>
                </c:pt>
                <c:pt idx="2">
                  <c:v>15.8</c:v>
                </c:pt>
                <c:pt idx="3">
                  <c:v>18.399999999999999</c:v>
                </c:pt>
                <c:pt idx="4">
                  <c:v>13.1</c:v>
                </c:pt>
                <c:pt idx="5">
                  <c:v>16.5</c:v>
                </c:pt>
                <c:pt idx="6">
                  <c:v>19.399999999999999</c:v>
                </c:pt>
                <c:pt idx="7">
                  <c:v>20.2</c:v>
                </c:pt>
                <c:pt idx="8">
                  <c:v>17.8</c:v>
                </c:pt>
                <c:pt idx="9">
                  <c:v>19.5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48-49BD-8D13-10C59E3E7F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Telephone</c:v>
                </c:pt>
              </c:strCache>
            </c:strRef>
          </c:tx>
          <c:spPr>
            <a:ln w="31750" cap="flat">
              <a:solidFill>
                <a:srgbClr val="00963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639"/>
              </a:solidFill>
              <a:ln w="9525" cap="flat">
                <a:solidFill>
                  <a:srgbClr val="009639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5.0999999999999996</c:v>
                </c:pt>
                <c:pt idx="1">
                  <c:v>7.9</c:v>
                </c:pt>
                <c:pt idx="2">
                  <c:v>7.8</c:v>
                </c:pt>
                <c:pt idx="3">
                  <c:v>8.4</c:v>
                </c:pt>
                <c:pt idx="4">
                  <c:v>8.9</c:v>
                </c:pt>
                <c:pt idx="5">
                  <c:v>9.6</c:v>
                </c:pt>
                <c:pt idx="6">
                  <c:v>8.4</c:v>
                </c:pt>
                <c:pt idx="7">
                  <c:v>8.6</c:v>
                </c:pt>
                <c:pt idx="8">
                  <c:v>8.1999999999999993</c:v>
                </c:pt>
                <c:pt idx="9">
                  <c:v>7.1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548-49BD-8D13-10C59E3E7F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Video/Online</c:v>
                </c:pt>
              </c:strCache>
            </c:strRef>
          </c:tx>
          <c:spPr>
            <a:ln w="31750" cap="flat">
              <a:solidFill>
                <a:srgbClr val="41B6E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1B6E6"/>
              </a:solidFill>
              <a:ln w="9525" cap="flat">
                <a:solidFill>
                  <a:srgbClr val="41B6E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0.1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0.5</c:v>
                </c:pt>
                <c:pt idx="5">
                  <c:v>0.6</c:v>
                </c:pt>
                <c:pt idx="6">
                  <c:v>0.5</c:v>
                </c:pt>
                <c:pt idx="7">
                  <c:v>0.5</c:v>
                </c:pt>
                <c:pt idx="8">
                  <c:v>0.4</c:v>
                </c:pt>
                <c:pt idx="9">
                  <c:v>0.4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548-49BD-8D13-10C59E3E7F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DNA Rate (%)</c:v>
                </c:pt>
              </c:strCache>
            </c:strRef>
          </c:tx>
          <c:spPr>
            <a:solidFill>
              <a:srgbClr val="0096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76-46BF-9C5C-3F77790E41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F76-46BF-9C5C-3F77790E41E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76-46BF-9C5C-3F77790E41E8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76-46BF-9C5C-3F77790E41E8}"/>
              </c:ext>
            </c:extLst>
          </c:dPt>
          <c:dPt>
            <c:idx val="4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76-46BF-9C5C-3F77790E41E8}"/>
              </c:ext>
            </c:extLst>
          </c:dPt>
          <c:dPt>
            <c:idx val="5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F76-46BF-9C5C-3F77790E41E8}"/>
              </c:ext>
            </c:extLst>
          </c:dPt>
          <c:dPt>
            <c:idx val="6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F76-46BF-9C5C-3F77790E41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Same Day</c:v>
                </c:pt>
                <c:pt idx="1">
                  <c:v>1 Day</c:v>
                </c:pt>
                <c:pt idx="2">
                  <c:v>2 to 7 Days</c:v>
                </c:pt>
                <c:pt idx="3">
                  <c:v>8 to 14 Days</c:v>
                </c:pt>
                <c:pt idx="4">
                  <c:v>15 to 21 Days</c:v>
                </c:pt>
                <c:pt idx="5">
                  <c:v>22 to 28 Days</c:v>
                </c:pt>
                <c:pt idx="6">
                  <c:v>28+ Days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1.77</c:v>
                </c:pt>
                <c:pt idx="1">
                  <c:v>2.12</c:v>
                </c:pt>
                <c:pt idx="2">
                  <c:v>3.45</c:v>
                </c:pt>
                <c:pt idx="3">
                  <c:v>5.22</c:v>
                </c:pt>
                <c:pt idx="4">
                  <c:v>6.81</c:v>
                </c:pt>
                <c:pt idx="5">
                  <c:v>7.94</c:v>
                </c:pt>
                <c:pt idx="6">
                  <c:v>8.83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F76-46BF-9C5C-3F77790E41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1A3A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0308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DNA Rate (%)</c:v>
                </c:pt>
              </c:strCache>
            </c:strRef>
          </c:tx>
          <c:spPr>
            <a:solidFill>
              <a:srgbClr val="DA291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6A-4882-B7CF-4CD543914536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6A-4882-B7CF-4CD543914536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6A-4882-B7CF-4CD543914536}"/>
              </c:ext>
            </c:extLst>
          </c:dPt>
          <c:dPt>
            <c:idx val="3"/>
            <c:invertIfNegative val="0"/>
            <c:bubble3D val="0"/>
            <c:spPr>
              <a:solidFill>
                <a:srgbClr val="41B6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6A-4882-B7CF-4CD543914536}"/>
              </c:ext>
            </c:extLst>
          </c:dPt>
          <c:dPt>
            <c:idx val="4"/>
            <c:invertIfNegative val="0"/>
            <c:bubble3D val="0"/>
            <c:spPr>
              <a:solidFill>
                <a:srgbClr val="0096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6A-4882-B7CF-4CD54391453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308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Face-to-Face</c:v>
                </c:pt>
                <c:pt idx="1">
                  <c:v>Home Visit</c:v>
                </c:pt>
                <c:pt idx="2">
                  <c:v>Unknown</c:v>
                </c:pt>
                <c:pt idx="3">
                  <c:v>Video/Online</c:v>
                </c:pt>
                <c:pt idx="4">
                  <c:v>Telephone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5.51</c:v>
                </c:pt>
                <c:pt idx="1">
                  <c:v>4.82</c:v>
                </c:pt>
                <c:pt idx="2">
                  <c:v>3.91</c:v>
                </c:pt>
                <c:pt idx="3">
                  <c:v>2.4300000000000002</c:v>
                </c:pt>
                <c:pt idx="4">
                  <c:v>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46A-4882-B7CF-4CD5439145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b"/>
        <c:majorGridlines>
          <c:spPr>
            <a:ln w="6350" cap="flat">
              <a:solidFill>
                <a:srgbClr val="DD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CE-4DB5-9F8D-CB97F7B652F5}"/>
              </c:ext>
            </c:extLst>
          </c:dPt>
          <c:dPt>
            <c:idx val="1"/>
            <c:invertIfNegative val="0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CE-4DB5-9F8D-CB97F7B652F5}"/>
              </c:ext>
            </c:extLst>
          </c:dPt>
          <c:dPt>
            <c:idx val="2"/>
            <c:invertIfNegative val="0"/>
            <c:bubble3D val="0"/>
            <c:spPr>
              <a:solidFill>
                <a:srgbClr val="8A15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CE-4DB5-9F8D-CB97F7B652F5}"/>
              </c:ext>
            </c:extLst>
          </c:dPt>
          <c:dPt>
            <c:idx val="3"/>
            <c:invertIfNegative val="0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CE-4DB5-9F8D-CB97F7B652F5}"/>
              </c:ext>
            </c:extLst>
          </c:dPt>
          <c:dPt>
            <c:idx val="4"/>
            <c:invertIfNegative val="0"/>
            <c:bubble3D val="0"/>
            <c:spPr>
              <a:solidFill>
                <a:srgbClr val="0096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CE-4DB5-9F8D-CB97F7B652F5}"/>
              </c:ext>
            </c:extLst>
          </c:dPt>
          <c:dPt>
            <c:idx val="5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7CE-4DB5-9F8D-CB97F7B652F5}"/>
              </c:ext>
            </c:extLst>
          </c:dPt>
          <c:dPt>
            <c:idx val="6"/>
            <c:invertIfNegative val="0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7CE-4DB5-9F8D-CB97F7B652F5}"/>
              </c:ext>
            </c:extLst>
          </c:dPt>
          <c:dPt>
            <c:idx val="7"/>
            <c:invertIfNegative val="0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7CE-4DB5-9F8D-CB97F7B652F5}"/>
              </c:ext>
            </c:extLst>
          </c:dPt>
          <c:dPt>
            <c:idx val="8"/>
            <c:invertIfNegative val="0"/>
            <c:bubble3D val="0"/>
            <c:spPr>
              <a:solidFill>
                <a:srgbClr val="0096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7CE-4DB5-9F8D-CB97F7B652F5}"/>
              </c:ext>
            </c:extLst>
          </c:dPt>
          <c:dPt>
            <c:idx val="9"/>
            <c:invertIfNegative val="0"/>
            <c:bubble3D val="0"/>
            <c:spPr>
              <a:solidFill>
                <a:srgbClr val="0096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7CE-4DB5-9F8D-CB97F7B652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308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#nhs</c:v>
                </c:pt>
                <c:pt idx="1">
                  <c:v>#healthcare</c:v>
                </c:pt>
                <c:pt idx="2">
                  <c:v>#mentalhealth</c:v>
                </c:pt>
                <c:pt idx="3">
                  <c:v>#covid19</c:v>
                </c:pt>
                <c:pt idx="4">
                  <c:v>#nurses</c:v>
                </c:pt>
                <c:pt idx="5">
                  <c:v>#nhscrisis</c:v>
                </c:pt>
                <c:pt idx="6">
                  <c:v>#gp</c:v>
                </c:pt>
                <c:pt idx="7">
                  <c:v>#ukhealth</c:v>
                </c:pt>
                <c:pt idx="8">
                  <c:v>#wellbeing</c:v>
                </c:pt>
                <c:pt idx="9">
                  <c:v>#hiring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312</c:v>
                </c:pt>
                <c:pt idx="1">
                  <c:v>198</c:v>
                </c:pt>
                <c:pt idx="2">
                  <c:v>176</c:v>
                </c:pt>
                <c:pt idx="3">
                  <c:v>145</c:v>
                </c:pt>
                <c:pt idx="4">
                  <c:v>121</c:v>
                </c:pt>
                <c:pt idx="5">
                  <c:v>98</c:v>
                </c:pt>
                <c:pt idx="6">
                  <c:v>87</c:v>
                </c:pt>
                <c:pt idx="7">
                  <c:v>76</c:v>
                </c:pt>
                <c:pt idx="8">
                  <c:v>65</c:v>
                </c:pt>
                <c:pt idx="9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7CE-4DB5-9F8D-CB97F7B652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82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109728" cy="514350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ENGLAND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GP Appointment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Missed Appointments, Utilisation and Capacity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657600" cy="36576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 Presentation  |  DA201 Assignment  |  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4069080"/>
            <a:ext cx="1280160" cy="7772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742.8M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46520" y="4069080"/>
            <a:ext cx="1280160" cy="7772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4652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ICBs Covered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4069080"/>
            <a:ext cx="1280160" cy="7772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86384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86384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841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0241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missed appointments cost the NHS GBP371M per year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742.8M appointments across 42 ICBs over 30 months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83664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Impact and Recovery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demand changed and what it revealed about flexibility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241401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432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DNA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61518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appointment types are most likely to be missed and why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65760" y="294436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962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1455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booking system, not patient behaviour, drives DNA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34747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493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or CapEx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67588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NHS should actually invest its money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05072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5760" y="40050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Signal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2062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Twitter tells us about public NHS concerns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535424"/>
            <a:ext cx="438912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65760" y="45354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" y="4553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47365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evidence-based actions ranked by impact and investment type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missed appointments are costing the NHS GBP371M every year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2344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17373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months)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1920240" cy="12344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14600" y="1170432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GBP371M/yr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837944"/>
            <a:ext cx="17373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cost at GBP30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1920240" cy="1234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0" y="1170432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837944"/>
            <a:ext cx="17373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DNA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to Jun 2022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097280"/>
            <a:ext cx="1920240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629400" y="1170432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29400" y="1837944"/>
            <a:ext cx="173736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status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waste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502920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73152" cy="1508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reasons why patients do not attend should be investigated rather than simply resorting to punishing them. Financially penalising patients inevitably impacts the poorest and most vulnerable."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Philip Banfield, BMA Chair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514600"/>
            <a:ext cx="3200400" cy="1508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6928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NHS Business Questions: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9443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there been adequate staff and capacity?
</a:t>
            </a:r>
            <a:r>
              <a:rPr lang="en-US" sz="12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actual utilisation of resources?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 | 742.8 million appointments | 42 ICBs | 30 months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65960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Activity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appointments_regional.csv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596,821 rows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to Jun 2022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mode, HCP type, booking lead 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514600" y="1097280"/>
            <a:ext cx="1965960" cy="38404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606040" y="1115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Categories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15727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national_categories.xlsx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8745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817,394 rows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22402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2021 to Jun 2022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5420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setting, context type, clinical category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1965960" cy="384048"/>
          </a:xfrm>
          <a:prstGeom prst="rect">
            <a:avLst/>
          </a:prstGeom>
          <a:solidFill>
            <a:srgbClr val="41B6E6"/>
          </a:solidFill>
          <a:ln w="12700">
            <a:solidFill>
              <a:srgbClr val="41B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54880" y="1115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Duration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5727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actual_duration.csv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137,793 rows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22402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2021 to Jun 2022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length at sub-ICB level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812280" y="1097280"/>
            <a:ext cx="19659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903720" y="1115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03720" y="15727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tweets.csv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18745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1,174 tweets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22402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25420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NHS-related social media signal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57200" y="46908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note: GP systems are designed for clinical use, not data analysis. Unknown and Unmapped values are known system limitations, not processing errors.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742.8 Million Appointments Resolve?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to Jun 2022 | appointments_regional.csv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114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005840"/>
            <a:ext cx="4114800" cy="102412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663440" y="1005840"/>
            <a:ext cx="73152" cy="102412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800600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677.8M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800600" y="1499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 of all appointments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00600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2212848"/>
            <a:ext cx="4114800" cy="102412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663440" y="2212848"/>
            <a:ext cx="73152" cy="1024128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800600" y="22860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30.9M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800600" y="2706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of all appointments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00600" y="2926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Missed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26883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GBP371M per year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3419856"/>
            <a:ext cx="4114800" cy="102412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663440" y="3419856"/>
            <a:ext cx="73152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800600" y="3493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800600" y="3913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of all appointments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00600" y="4133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Status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Demand: COVID Impact and Recovery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6268" y="542700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5427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to Jun 2022 | monthly trend in total GP appointments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41248"/>
          <a:ext cx="8595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3246120"/>
            <a:ext cx="1737360" cy="566928"/>
          </a:xfrm>
          <a:prstGeom prst="rect">
            <a:avLst/>
          </a:prstGeom>
          <a:solidFill>
            <a:srgbClr val="FFEBEE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371600" y="32644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Dip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14.2M (Apr 2020)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75120" y="914400"/>
            <a:ext cx="17830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675120" y="9326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30.6M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NHS Already Proved It Can Scale Operationally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545514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appointments increased 151% during COVID with zero new infrastructure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41248"/>
          <a:ext cx="5577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914400"/>
            <a:ext cx="278892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035040" y="914400"/>
            <a:ext cx="64008" cy="11155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172200" y="978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proved its worth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243584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Surged from 5M to nearly 9M per month during lockdown with zero new buildings or rooms. This is operational flexibility, not capital investment.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2212848"/>
            <a:ext cx="278892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035040" y="2212848"/>
            <a:ext cx="64008" cy="1115568"/>
          </a:xfrm>
          <a:prstGeom prst="rect">
            <a:avLst/>
          </a:prstGeom>
          <a:solidFill>
            <a:srgbClr val="41B6E6"/>
          </a:solidFill>
          <a:ln w="12700">
            <a:solidFill>
              <a:srgbClr val="41B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172200" y="22768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remains underused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5420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exceeded 0.6M per month despite COVID proving remote care works. Currently only 0.49% of all appointments.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3511296"/>
            <a:ext cx="278892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035040" y="3511296"/>
            <a:ext cx="64008" cy="111556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172200" y="3575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recovered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384048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Rebounded after lockdown confirming continued demand for in-person care, but telephone proved it can carry a large share of the load.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Finding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booking lead times drive dramatically higher missed appointment rates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32688"/>
          <a:ext cx="54864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32688"/>
            <a:ext cx="2880360" cy="123444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035040" y="97840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035040" y="1664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DNA rate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286000"/>
            <a:ext cx="2880360" cy="12344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035040" y="23317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8.83%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035040" y="3017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28+ day DNA 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639312"/>
            <a:ext cx="2880360" cy="9601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035040" y="36850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higher DNA risk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35040" y="40416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long-wait vs same-day bookings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Appointments Are 2.8x More Reliable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584513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rate by appointment mode | expanding telephone is an OpEx fix, not a CapEx one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41248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841248"/>
            <a:ext cx="3291840" cy="102412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623560" y="886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DNA 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23560" y="11338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1.96%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532120" y="1984248"/>
            <a:ext cx="3291840" cy="1024128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623560" y="2029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DNA Rate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3560" y="22768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5.51%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5532120" y="3127248"/>
            <a:ext cx="3291840" cy="8686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23560" y="3172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 lower DNA risk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623560" y="35387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1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telephone vs face-to-face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3212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already handles 268M appointments (36% of all). Expanding it further costs nothing in capital.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or CapEx? Where Should the NHS Invest?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evidence show this is an operational problem, not a capital one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78992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0" cy="1078992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appointments are already same-day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0817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342.7 million same-day appointments prove physical capacity exists. If buildings were the constraint, same-day appointments at this scale would be impossible.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8412480" cy="1078992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57200" cy="10789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304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grew 151% during COVID with zero new infrastructure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3.5M to 8.8M appointments per month with no new rooms, no new staff, no new buildings. Operational flexibility already exists.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8412480" cy="1078992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457200" cy="107899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3419856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112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infrastructure, 3.15pp DNA rate gap across ICBs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8221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rates range from 2.69% to 5.84% across 42 ICBs. Identical national infrastructure, very different outcomes. That is an operational gap.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Fix OpEx first. Measure the remaining gap. Only then decide if CapEx is needed.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Public is Saying About the NHS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1,174 NHS-related tweets analysed | hashtag extraction via Python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41248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914400"/>
            <a:ext cx="329184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32120" y="914400"/>
            <a:ext cx="64008" cy="109728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669280" y="9875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#MentalHealth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2618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3rd most frequently. Public concern about mental health access is not visible in appointment data alone. A demand signal the NHS should monitor.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32120" y="2194560"/>
            <a:ext cx="329184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532120" y="2194560"/>
            <a:ext cx="64008" cy="109728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669280" y="2267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#NHSCrisis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254203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public awareness of system pressure. Monitoring this over time could act as an early warning system for demand spikes.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32120" y="3474720"/>
            <a:ext cx="329184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532120" y="3474720"/>
            <a:ext cx="64008" cy="109728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6692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#Nurses #Hiring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0" y="382219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concerns are publicly prominent, consistent with reported NHS staffing pressures and the OpEx investment case.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65760" y="468172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note: Twitter users are not representative of the general population. Use as a signal to supplement primary data, not replace it.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Two Business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73152" cy="19659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Has there been adequate staff and capacity?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physical capacity broadly exists. The operational use of that capacity does not.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46.1%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appointments are same-day with a 1.77% DNA rate, proving physical capacity exists. </a:t>
            </a:r>
            <a:r>
              <a:rPr lang="en-US" sz="11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grew 151%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COVID with zero new infrastructure, proving operational flexibility exists. </a:t>
            </a:r>
            <a:r>
              <a:rPr lang="en-US" sz="11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3.15pp DNA gap across identical ICB infrastructure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confirms this is an operational gap, not a capital 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73152" cy="19659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29900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was the actual utilisation of resources?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91.2% attended, but the 8.8% wasted is concentrated in preventable areas.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59.2% of attended appointments, 5.51% DNA rate. </a:t>
            </a: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appointments, 1.96% DNA rate, 2.8x more reliable. </a:t>
            </a: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modes matched telephone DNA rate: </a:t>
            </a:r>
            <a:r>
              <a:rPr lang="en-US" sz="1100" b="1" dirty="0">
                <a:solidFill>
                  <a:srgbClr val="009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GBP196M per year recovered with zero capital investment.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Recommendations: OpEx First, CapEx Last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54864" cy="29260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expected impact | fix operations before committing to capital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20040" cy="877824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0607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forward booking time to same-day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3167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drops from 8.83% to 1.77%. Policy change only.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0" y="1060704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86200" y="10607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86200" y="1298448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886200" y="1298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993392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320040" cy="877824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0040" y="1993392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2048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telephone for routine care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3042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 lower DNA than face-to-face. Already at 268M.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2048256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886200" y="2048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86200" y="2286000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86200" y="22860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980944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20040" y="2980944"/>
            <a:ext cx="320040" cy="87782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20040" y="2980944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30358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reminders 24 to 48hrs before appointments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Sussex ICB: 6.5% to 5.5% DNA. Low cost.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86200" y="3035808"/>
            <a:ext cx="566928" cy="20116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886200" y="30358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86200" y="3273552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886200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3968496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20040" y="3968496"/>
            <a:ext cx="320040" cy="87782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20040" y="3968496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1520" y="4023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high-DNA ICBs operationally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2793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3.15pp gap across same infrastructure.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86200" y="4023360"/>
            <a:ext cx="566928" cy="20116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886200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86200" y="4261104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886200" y="4261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1005840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4754880" y="1005840"/>
            <a:ext cx="320040" cy="87782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754880" y="1005840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166360" y="10607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DNA to deprivation index for targeting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13167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deprived 10 to 20% more likely to miss.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21040" y="1060704"/>
            <a:ext cx="566928" cy="20116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321040" y="10607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321040" y="1298448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321040" y="1298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1993392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754880" y="1993392"/>
            <a:ext cx="320040" cy="8778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4754880" y="1993392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166360" y="2048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recording quality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66360" y="23042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Unknown status limits financial reporting accuracy.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21040" y="2048256"/>
            <a:ext cx="56692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8321040" y="2048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321040" y="2286000"/>
            <a:ext cx="566928" cy="201168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321040" y="22860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54880" y="2980944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4754880" y="2980944"/>
            <a:ext cx="320040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754880" y="2980944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5166360" y="30358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video and online appointment platform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66360" y="32918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COVID. Currently only 0.49% of appointments.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321040" y="3035808"/>
            <a:ext cx="566928" cy="20116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8321040" y="30358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21040" y="3273552"/>
            <a:ext cx="5669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8321040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54880" y="3968496"/>
            <a:ext cx="420624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4754880" y="3968496"/>
            <a:ext cx="320040" cy="877824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4754880" y="3968496"/>
            <a:ext cx="320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5166360" y="4023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GP capacity if OpEx gap persists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166360" y="42793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after 12 to 24 months of OpEx improvements.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321040" y="4023360"/>
            <a:ext cx="5669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8321040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321040" y="4261104"/>
            <a:ext cx="56692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8321040" y="4261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109728" cy="514350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365760" cy="365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0241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NHS does not need to build more. It needs to operate what it already has more effectively.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6824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30.9M missed appointments cost the NHS approximately GBP371M per year. This is avoidable.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365760" cy="365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34086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forward booking time from 28+ days to same-day would cut DNA rates by up to 5x. It costs nothing to change a booking policy.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62656"/>
            <a:ext cx="365760" cy="365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299923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appointments are proven, mainstream, and 2.8x more reliable than face-to-face. Expand them.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365760" cy="365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008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6576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GBP196M per year is recoverable through OpEx changes alone, before a single new building is considered.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365760" cy="365760"/>
          </a:xfrm>
          <a:prstGeom prst="rect">
            <a:avLst/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00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3159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signals rising public concern about mental health access, a demand area not visible in appointment data.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28032"/>
            <a:ext cx="8229600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GP Appointment Data Analysis  |  DA201 Assignment  |  Questions Welcome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</Words>
  <Application>Microsoft Office PowerPoint</Application>
  <PresentationFormat>On-screen Show (16:9)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Sharath Chandra</cp:lastModifiedBy>
  <cp:revision>2</cp:revision>
  <dcterms:created xsi:type="dcterms:W3CDTF">2026-05-24T13:33:49Z</dcterms:created>
  <dcterms:modified xsi:type="dcterms:W3CDTF">2026-05-26T00:10:37Z</dcterms:modified>
</cp:coreProperties>
</file>